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72B2"/>
                </a:solidFill>
                <a:latin typeface="Calibri"/>
              </a:rPr>
              <a:t>Predicción de propina baja en taxis de NYC con Apache Spark MLlib</a:t>
            </a:r>
          </a:p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Comparación de algoritmos de Machine Learning distribuido sobre Big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Niels Pacheco  ·  Maestría en IA — EPG-UNI  ·  Curso de Big Data  ·  Docente: Mg. Rosa V. Encinas Quille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72B2"/>
                </a:solidFill>
                <a:latin typeface="Calibri"/>
              </a:rPr>
              <a:t>El problema y la necesidad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La propina es una fracción clave del ingreso del conductor de taxi.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¿Podemos anticipar, al inicio del viaje, si dejará una propina baja?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• Beneficiarios: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   – Conductores: anticipar viajes de baja recompensa.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   – Plataformas/despacho: incentivos y asignación más justa.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Reto técnico: decenas de millones de viajes → no cabe en una sola máquina con herramientas tradicionales.</a:t>
            </a:r>
          </a:p>
        </p:txBody>
      </p:sp>
      <p:pic>
        <p:nvPicPr>
          <p:cNvPr id="5" name="Picture 4" descr="fig1_volumen_men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12064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72B2"/>
                </a:solidFill>
                <a:latin typeface="Calibri"/>
              </a:rPr>
              <a:t>Propuesta de valor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Pipeline de Big Data reproducible, de extremo a extremo, sobre datos públicos reales.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Compara 4 algoritmos distribuidos y mide su costo y escalabilidad.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• Qué lo hace distinto: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   – Métricas honestas bajo desbalance (no solo accuracy).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   – Evidencia cuantitativa de escalabilidad (datos y núcleos).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   – Decisiones documentadas (ADRs) y código abierto (repo público).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72B2"/>
                </a:solidFill>
                <a:latin typeface="Calibri"/>
              </a:rPr>
              <a:t>Los datos: NYC TLC Yellow Taxi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6 meses de 2023 · 19,493,620 viajes crudos → 14,912,381 tras limpieza.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Formato Apache Parquet (columnar), ~2,5 M viajes/mes.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• Las 5 V abordadas: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   – Volumen: ~15 M de registros.  Variedad: espacio, tiempo, economía.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   – Veracidad: solo pagos con tarjeta (la propina en efectivo no se registra).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   – Valor: anticipar la recompensa del conductor.</a:t>
            </a:r>
          </a:p>
        </p:txBody>
      </p:sp>
      <p:pic>
        <p:nvPicPr>
          <p:cNvPr id="5" name="Picture 4" descr="fig2_distribucion_prop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12064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72B2"/>
                </a:solidFill>
                <a:latin typeface="Calibri"/>
              </a:rPr>
              <a:t>El reto central: desbalance de clases</a:t>
            </a:r>
          </a:p>
        </p:txBody>
      </p:sp>
      <p:pic>
        <p:nvPicPr>
          <p:cNvPr id="4" name="Picture 3" descr="fig3_balance_cl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5527" y="1371600"/>
            <a:ext cx="5120640" cy="426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La propina baja es minoritaria (9.4%), con un desbalance de 9.7:1. Un modelo trivial lograría ~90% de accuracy y 0% de recall útil.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72B2"/>
                </a:solidFill>
                <a:latin typeface="Calibri"/>
              </a:rPr>
              <a:t>Arquitectura: ciclo de vida del dato</a:t>
            </a:r>
          </a:p>
        </p:txBody>
      </p:sp>
      <p:pic>
        <p:nvPicPr>
          <p:cNvPr id="4" name="Picture 3" descr="fig7_arquitec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207" y="1371600"/>
            <a:ext cx="10241280" cy="293523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Ingesta → Almacenamiento → Procesamiento distribuido (Spark) → Features (MLlib) → Modelado → Evaluación y visualización.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72B2"/>
                </a:solidFill>
                <a:latin typeface="Calibri"/>
              </a:rPr>
              <a:t>Requerimientos de la solución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• Funcionales: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   – Ingesta y normalización de Parquet con esquema variable.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   – Limpieza, ingeniería de variables y etiquetado distribuido.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   – Entrenamiento y comparación de modelos; reportes de métricas.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• No funcionales: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   – Escalabilidad horizontal (datos y núcleos).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   – Reproducibilidad (entorno y datos versionados).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   – Veracidad y honestidad estadística de la evaluación.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72B2"/>
                </a:solidFill>
                <a:latin typeface="Calibri"/>
              </a:rPr>
              <a:t>Metodología (Spark MLlib)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Pipeline: StringIndexer → OneHotEncoder → VectorAssembler.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14 variables numéricas + 2 categóricas; se excluye la propina (anti-fuga).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4 modelos: Regresión Logística, Árbol, Random Forest, GBT.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Desbalance: ponderación de instancias por clase (los 4 modelos).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Split 80/20 idéntico para todos; AUC, F1, recall de la minoría.</a:t>
            </a:r>
          </a:p>
        </p:txBody>
      </p:sp>
      <p:pic>
        <p:nvPicPr>
          <p:cNvPr id="5" name="Picture 4" descr="fig8_comparacion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03520" cy="25044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72B2"/>
                </a:solidFill>
                <a:latin typeface="Calibri"/>
              </a:rPr>
              <a:t>Resultados: comparación de modelos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554480"/>
          <a:ext cx="54864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822960"/>
                <a:gridCol w="822960"/>
                <a:gridCol w="822960"/>
                <a:gridCol w="822960"/>
                <a:gridCol w="822960"/>
              </a:tblGrid>
              <a:tr h="62179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Modelo</a:t>
                      </a:r>
                    </a:p>
                  </a:txBody>
                  <a:tcPr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AUC</a:t>
                      </a:r>
                    </a:p>
                  </a:txBody>
                  <a:tcPr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F1</a:t>
                      </a:r>
                    </a:p>
                  </a:txBody>
                  <a:tcPr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Acc.</a:t>
                      </a:r>
                    </a:p>
                  </a:txBody>
                  <a:tcPr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Rec+</a:t>
                      </a:r>
                    </a:p>
                  </a:txBody>
                  <a:tcPr>
                    <a:solidFill>
                      <a:srgbClr val="0072B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t(s)</a:t>
                      </a:r>
                    </a:p>
                  </a:txBody>
                  <a:tcPr>
                    <a:solidFill>
                      <a:srgbClr val="0072B2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LogisticRegression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0.656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0.753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0.691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0.501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9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DecisionTree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0.609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0.637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3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RandomForest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0.646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0.598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28</a:t>
                      </a:r>
                    </a:p>
                  </a:txBody>
                  <a:tcPr/>
                </a:tc>
              </a:tr>
              <a:tr h="62179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GBT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0.686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0.702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0.637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22222"/>
                          </a:solidFill>
                        </a:rPr>
                        <a:t>49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4937760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55555"/>
                </a:solidFill>
                <a:latin typeface="Calibri"/>
              </a:rPr>
              <a:t>Con ponderación, los 4 modelos detectan la minoría. GBT y RF dan el mejor AUC; el árbol y GBT, el mejor recall — pero a costos muy distintos.</a:t>
            </a:r>
          </a:p>
        </p:txBody>
      </p:sp>
      <p:pic>
        <p:nvPicPr>
          <p:cNvPr id="6" name="Picture 5" descr="fig9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463040"/>
            <a:ext cx="5212080" cy="360836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72B2"/>
                </a:solidFill>
                <a:latin typeface="Calibri"/>
              </a:rPr>
              <a:t>Hallazgo clave: la accuracy engaña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Bajo fuerte desbalance, la accuracy NO es una métrica honesta.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Un clasificador trivial lograría 90,6% de accuracy y 0% de recall útil.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Por eso evaluamos con AUC y recall de la clase minoritaria.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• No hay un único ganador: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   – GBT: mejor desempeño (AUC 0.686, recall+ 0.64), mayor costo.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   – Random Forest: AUC casi igual (0.680) a la mitad del tiempo.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   – Regresión Logística: la más eficiente (9 s).</a:t>
            </a:r>
          </a:p>
        </p:txBody>
      </p:sp>
      <p:pic>
        <p:nvPicPr>
          <p:cNvPr id="5" name="Picture 4" descr="fig9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4937760" cy="341844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72B2"/>
                </a:solidFill>
                <a:latin typeface="Calibri"/>
              </a:rPr>
              <a:t>Escalabilidad del procesamiento distribuido</a:t>
            </a:r>
          </a:p>
        </p:txBody>
      </p:sp>
      <p:pic>
        <p:nvPicPr>
          <p:cNvPr id="4" name="Picture 3" descr="fig10_escalabilidad_da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554480"/>
            <a:ext cx="5394960" cy="3527474"/>
          </a:xfrm>
          <a:prstGeom prst="rect">
            <a:avLst/>
          </a:prstGeom>
        </p:spPr>
      </p:pic>
      <p:pic>
        <p:nvPicPr>
          <p:cNvPr id="5" name="Picture 4" descr="fig11_escalabilidad_fuer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554480"/>
            <a:ext cx="5394960" cy="35274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61264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55555"/>
                </a:solidFill>
                <a:latin typeface="Calibri"/>
              </a:rPr>
              <a:t>Escalabilidad de datos sublineal y speedup de 4.7× con 8 núcleos (ley de Amdahl).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72B2"/>
                </a:solidFill>
                <a:latin typeface="Calibri"/>
              </a:rPr>
              <a:t>Viabilidad e impacto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• Escenarios de uso: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   – Incentivos dinámicos y asignación de viajes.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   – Análisis del comportamiento de propina por zona/horario.</a:t>
            </a:r>
          </a:p>
          <a:p>
            <a:pPr algn="l">
              <a:spcAft>
                <a:spcPts val="700"/>
              </a:spcAft>
            </a:pPr>
            <a:r>
              <a:rPr sz="1800" b="1">
                <a:solidFill>
                  <a:srgbClr val="222222"/>
                </a:solidFill>
                <a:latin typeface="Calibri"/>
              </a:rPr>
              <a:t>• Limitaciones: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   – Sesgo: solo pagos con tarjeta; señal limitada de la propina.</a:t>
            </a:r>
          </a:p>
          <a:p>
            <a:pPr algn="l">
              <a:spcAft>
                <a:spcPts val="700"/>
              </a:spcAft>
            </a:pPr>
            <a:r>
              <a:rPr sz="1500" b="0">
                <a:solidFill>
                  <a:srgbClr val="555555"/>
                </a:solidFill>
                <a:latin typeface="Calibri"/>
              </a:rPr>
              <a:t>   – Ejecución local: no captura red/shuffle entre nodos.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Expansión: clúster real (EMR/Databricks), datos contextuales (clima, tráfico), streaming.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72B2"/>
                </a:solidFill>
                <a:latin typeface="Calibri"/>
              </a:rPr>
              <a:t>Conclusiones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Se comparó de forma justa el desempeño y el costo de 4 clasificadores distribuidos sobre ~15 M de viajes.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Lección 1: en datos desbalanceados, elegir por AUC y recall, no por accuracy.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Lección 2: Random Forest dio el mejor compromiso; la Regresión Logística, el menor costo.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Lección 3: la escalabilidad confirma las ventajas y los límites (Amdahl) del cómputo distribuido.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22222"/>
                </a:solidFill>
                <a:latin typeface="Calibri"/>
              </a:rPr>
              <a:t>• Código, datos y artículo: repositorio público reproducible.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0072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0072B2"/>
                </a:solidFill>
                <a:latin typeface="Calibri"/>
              </a:rPr>
              <a:t>¡Gracias!</a:t>
            </a:r>
          </a:p>
          <a:p>
            <a:pPr algn="l"/>
            <a:r>
              <a:rPr sz="2000" b="0">
                <a:solidFill>
                  <a:srgbClr val="555555"/>
                </a:solidFill>
                <a:latin typeface="Calibri"/>
              </a:rPr>
              <a:t>Preguntas y discusión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8521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Repositorio: github.com/nielspac177/big-data-nyc-taxi-mllib  ·  nielspacheco1997@gmail.com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